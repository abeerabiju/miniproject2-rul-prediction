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15"/>
    <p:sldId id="266" r:id="rId16"/>
    <p:sldId id="271" r:id="rId17"/>
    <p:sldId id="267" r:id="rId18"/>
    <p:sldId id="268" r:id="rId19"/>
    <p:sldId id="269" r:id="rId20"/>
    <p:sldId id="272" r:id="rId21"/>
    <p:sldId id="270" r:id="rId22"/>
  </p:sldIdLst>
  <p:sldSz cx="9144000" cy="5143500" type="screen16x9"/>
  <p:notesSz cx="5143500" cy="9144000"/>
  <p:embeddedFontLs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838AA-BC11-C958-1CAC-5C637FE8963A}" v="6" dt="2026-06-02T12:56:10.763"/>
    <p1510:client id="{45D1764F-A963-22E8-4389-99790E9F2533}" v="160" dt="2026-06-02T12:44:30.233"/>
    <p1510:client id="{A1E82335-0A7B-B0B9-DCF3-AA439194D05A}" v="1" dt="2026-06-02T12:29:01.584"/>
    <p1510:client id="{CA8C4501-EE6F-8D72-A149-DA265A4291E1}" v="57" dt="2026-06-02T12:28:3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54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8C768-B27B-A1A1-60D6-46003FD7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10BFF-6A18-58B1-D49D-ED0A280D5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79CF-7801-BA65-7422-3BF8855FA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F63E4-AEC7-9C9F-4E47-3B68F6FD8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58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27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290712"/>
            <a:ext cx="5179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/>
          </a:p>
        </p:txBody>
      </p:sp>
      <p:sp>
        <p:nvSpPr>
          <p:cNvPr id="5" name="Text 1"/>
          <p:cNvSpPr/>
          <p:nvPr/>
        </p:nvSpPr>
        <p:spPr>
          <a:xfrm>
            <a:off x="3925119" y="1656829"/>
            <a:ext cx="4679677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>
                <a:solidFill>
                  <a:srgbClr val="FFFFFF"/>
                </a:solidFill>
                <a:latin typeface="Raleway"/>
                <a:ea typeface="Raleway" pitchFamily="34" charset="-122"/>
                <a:cs typeface="Raleway" pitchFamily="34" charset="-120"/>
              </a:rPr>
              <a:t>PREDICTIVE MAINTENANCE</a:t>
            </a:r>
            <a:endParaRPr lang="en-US" sz="2500" b="1">
              <a:latin typeface="Raleway"/>
              <a:ea typeface="Calibri"/>
              <a:cs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3925119" y="2236955"/>
            <a:ext cx="4287515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Remaining Useful Life Prediction</a:t>
            </a:r>
            <a:endParaRPr lang="en-US" sz="1400"/>
          </a:p>
        </p:txBody>
      </p:sp>
      <p:sp>
        <p:nvSpPr>
          <p:cNvPr id="7" name="Text 3"/>
          <p:cNvSpPr/>
          <p:nvPr/>
        </p:nvSpPr>
        <p:spPr>
          <a:xfrm>
            <a:off x="3925119" y="2466305"/>
            <a:ext cx="5031581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using the PRONOSTIA Bearing Dataset</a:t>
            </a:r>
            <a:endParaRPr lang="en-US" sz="1400"/>
          </a:p>
        </p:txBody>
      </p:sp>
      <p:sp>
        <p:nvSpPr>
          <p:cNvPr id="8" name="Text 4"/>
          <p:cNvSpPr/>
          <p:nvPr/>
        </p:nvSpPr>
        <p:spPr>
          <a:xfrm>
            <a:off x="3925119" y="2957438"/>
            <a:ext cx="4722763" cy="84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/>
          </a:p>
        </p:txBody>
      </p:sp>
      <p:sp>
        <p:nvSpPr>
          <p:cNvPr id="9" name="Text 5"/>
          <p:cNvSpPr/>
          <p:nvPr/>
        </p:nvSpPr>
        <p:spPr>
          <a:xfrm>
            <a:off x="3925119" y="3926756"/>
            <a:ext cx="4722763" cy="723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Ephraim Neke Kamalu | Pratiksha Satish Ramane | Abeera Biju | Geo Shajan</a:t>
            </a:r>
            <a:endParaRPr lang="en-US" sz="800"/>
          </a:p>
          <a:p>
            <a:pPr marL="0" indent="0" algn="r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1 | June 2, 2026</a:t>
            </a:r>
            <a:endParaRPr lang="en-US" sz="800"/>
          </a:p>
          <a:p>
            <a:pPr marL="0" indent="0" algn="r">
              <a:lnSpc>
                <a:spcPct val="127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CRISP-DM Methodology | IEEE PHM 2012 Dataset</a:t>
            </a:r>
            <a:endParaRPr lang="en-US" sz="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51A71F-8DD3-E298-DA29-1151BE23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995" y="2282"/>
            <a:ext cx="2240005" cy="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9E0154-3D48-E7E7-25A9-D985CFC3C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714" y="4758687"/>
            <a:ext cx="1943286" cy="3539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342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AGENDA</a:t>
            </a:r>
            <a:endParaRPr lang="en-US" sz="2750" b="1">
              <a:latin typeface="Ralew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20775"/>
            <a:ext cx="22819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Problem Statement</a:t>
            </a:r>
            <a:endParaRPr lang="en-US" sz="1350"/>
          </a:p>
        </p:txBody>
      </p:sp>
      <p:sp>
        <p:nvSpPr>
          <p:cNvPr id="4" name="Text 2"/>
          <p:cNvSpPr/>
          <p:nvPr/>
        </p:nvSpPr>
        <p:spPr>
          <a:xfrm>
            <a:off x="496119" y="168399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predictive maintenance matters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96119" y="2052563"/>
            <a:ext cx="23758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PRONOSTIA Dataset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496119" y="241577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bearings, 3 operating conditions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96119" y="278435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Signal Processing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496119" y="314756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Butterworth filter + feature extraction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96119" y="35161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Health Index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496119" y="387935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 degradation score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749701" y="1320775"/>
            <a:ext cx="26861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05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Classification (6 models)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4749701" y="168399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3-class bearing condition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749701" y="2052563"/>
            <a:ext cx="2531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06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Regression (8 models)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4749701" y="241577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RUL prediction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749701" y="2784351"/>
            <a:ext cx="24318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07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CNN+LSTM Highlight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4749701" y="314756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model — only positive R²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749701" y="35161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08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Key Findings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4749701" y="387935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learned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96119" y="439318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FF44F2C-EC4A-8B01-9CB2-AC12714E0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1253"/>
            <a:ext cx="43052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277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Ball bearing failures cause unplanned downtime, high repair costs, and safety risks.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96119" y="1755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E74C3C"/>
                </a:solidFill>
                <a:latin typeface="Raleway"/>
                <a:ea typeface="Raleway" pitchFamily="34" charset="-122"/>
                <a:cs typeface="Raleway" pitchFamily="34" charset="-120"/>
              </a:rPr>
              <a:t>Reactive</a:t>
            </a:r>
            <a:endParaRPr lang="en-US" sz="1350" b="1">
              <a:latin typeface="Raleway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119015"/>
            <a:ext cx="248632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after failure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downtime cost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3333080" y="1755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F39C12"/>
                </a:solidFill>
                <a:latin typeface="Raleway"/>
                <a:ea typeface="Raleway" pitchFamily="34" charset="-122"/>
                <a:cs typeface="Raleway" pitchFamily="34" charset="-120"/>
              </a:rPr>
              <a:t>Preventive</a:t>
            </a:r>
            <a:endParaRPr lang="en-US" sz="1350" b="1">
              <a:latin typeface="Raleway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33080" y="2119015"/>
            <a:ext cx="248632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on schedule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Wastes good parts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170042" y="1755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AE60"/>
                </a:solidFill>
                <a:latin typeface="Raleway"/>
                <a:ea typeface="Raleway" pitchFamily="34" charset="-122"/>
                <a:cs typeface="Raleway" pitchFamily="34" charset="-120"/>
              </a:rPr>
              <a:t>Predictive</a:t>
            </a:r>
            <a:endParaRPr lang="en-US" sz="1350" b="1">
              <a:latin typeface="Raleway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70042" y="2119015"/>
            <a:ext cx="248632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failure time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Optimal maintenance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96119" y="2987204"/>
            <a:ext cx="8151763" cy="655588"/>
          </a:xfrm>
          <a:prstGeom prst="roundRect">
            <a:avLst>
              <a:gd name="adj" fmla="val 9082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183136"/>
            <a:ext cx="265807" cy="2126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96964" y="3164384"/>
            <a:ext cx="4329038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RUL = Total Lifetime - Current Usage Time</a:t>
            </a:r>
            <a:endParaRPr lang="en-US" sz="1650"/>
          </a:p>
        </p:txBody>
      </p:sp>
      <p:sp>
        <p:nvSpPr>
          <p:cNvPr id="13" name="Text 10"/>
          <p:cNvSpPr/>
          <p:nvPr/>
        </p:nvSpPr>
        <p:spPr>
          <a:xfrm>
            <a:off x="496119" y="3802261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task:</a:t>
            </a: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 a classification model (3 classes: Non-critical, Wear Detectable, Imminent Failure) + optional regression for continuous RUL.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F61C2-F765-77EB-632E-34BFBD75E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050"/>
            <a:ext cx="336113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PRONOSTIA DATASET</a:t>
            </a:r>
            <a:endParaRPr lang="en-US" sz="22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35831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IEEE PHM 2012 Data Challenge — FEMTO-ST Institute</a:t>
            </a:r>
            <a:endParaRPr lang="en-US" sz="850"/>
          </a:p>
        </p:txBody>
      </p:sp>
      <p:sp>
        <p:nvSpPr>
          <p:cNvPr id="4" name="Shape 2"/>
          <p:cNvSpPr/>
          <p:nvPr/>
        </p:nvSpPr>
        <p:spPr>
          <a:xfrm>
            <a:off x="496119" y="1201117"/>
            <a:ext cx="2656731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3813" y="13288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 kHz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23813" y="1560388"/>
            <a:ext cx="240134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Sampling Rate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3243560" y="1201117"/>
            <a:ext cx="2656805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1255" y="13288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Sensors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371255" y="1560388"/>
            <a:ext cx="240141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 + V Vibration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5991076" y="1201117"/>
            <a:ext cx="2656805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8771" y="13288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Bearings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118771" y="1560388"/>
            <a:ext cx="240141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Set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96119" y="1942058"/>
            <a:ext cx="4030489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813" y="206975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1-7 hrs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23813" y="2301329"/>
            <a:ext cx="377510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 Lifetime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4617318" y="1942058"/>
            <a:ext cx="4030563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013" y="206975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20g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745013" y="2301329"/>
            <a:ext cx="377517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Threshold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496119" y="2728317"/>
            <a:ext cx="215838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Operating Conditions</a:t>
            </a:r>
            <a:endParaRPr lang="en-US" sz="1300" b="1">
              <a:latin typeface="Raleway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6119" y="3076947"/>
            <a:ext cx="8151763" cy="1135856"/>
          </a:xfrm>
          <a:prstGeom prst="roundRect">
            <a:avLst>
              <a:gd name="adj" fmla="val 41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881" y="3081710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4437" y="3140869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2652340" y="3140869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1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4687863" y="3140869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2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6723385" y="3140869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3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00881" y="3363292"/>
            <a:ext cx="8142238" cy="2815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4437" y="3422452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Radial Force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2652340" y="3422452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4,000 N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687863" y="3422452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4,200 N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6723385" y="3422452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5,000 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500881" y="3644875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4437" y="3704034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2652340" y="3704034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1,800 rpm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4687863" y="3704034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1,650 rpm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6723385" y="3704034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1,500 rpm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500881" y="3926458"/>
            <a:ext cx="8142238" cy="2815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4437" y="3985617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Bearings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2652340" y="3985617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4687863" y="3985617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6723385" y="3985617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496119" y="4314825"/>
            <a:ext cx="8151763" cy="42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85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Vibration data only (no temperature) — vibration is the primary degradation indicator.</a:t>
            </a:r>
            <a:endParaRPr lang="en-US" sz="85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A92C101-4A9C-C2F8-DB3F-4C3332622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961" y="845822"/>
            <a:ext cx="407625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CRISP-DM METHODOLOGY</a:t>
            </a:r>
            <a:endParaRPr lang="en-US" sz="2200" b="1">
              <a:latin typeface="Raleway"/>
              <a:ea typeface="Calibri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594991"/>
            <a:ext cx="4006304" cy="571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977" y="1614041"/>
            <a:ext cx="21435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Business Understanding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675977" y="1920553"/>
            <a:ext cx="38073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the maintenance prediction problem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503" y="1594991"/>
            <a:ext cx="4006379" cy="5714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0412" y="1614041"/>
            <a:ext cx="18119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Data Understanding</a:t>
            </a:r>
            <a:endParaRPr lang="en-US" sz="1350"/>
          </a:p>
        </p:txBody>
      </p:sp>
      <p:sp>
        <p:nvSpPr>
          <p:cNvPr id="8" name="Text 4"/>
          <p:cNvSpPr/>
          <p:nvPr/>
        </p:nvSpPr>
        <p:spPr>
          <a:xfrm>
            <a:off x="4840412" y="1920553"/>
            <a:ext cx="38074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vibration signals, identify degradation patterns</a:t>
            </a:r>
            <a:endParaRPr lang="en-US" sz="11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411834"/>
            <a:ext cx="4006304" cy="5714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5977" y="2430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Data Preparation</a:t>
            </a:r>
            <a:endParaRPr lang="en-US" sz="1350"/>
          </a:p>
        </p:txBody>
      </p:sp>
      <p:sp>
        <p:nvSpPr>
          <p:cNvPr id="11" name="Text 6"/>
          <p:cNvSpPr/>
          <p:nvPr/>
        </p:nvSpPr>
        <p:spPr>
          <a:xfrm>
            <a:off x="675977" y="2737396"/>
            <a:ext cx="38073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Noise filtering, feature extraction (34 features via lambdas)</a:t>
            </a:r>
            <a:endParaRPr lang="en-US" sz="11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503" y="2411834"/>
            <a:ext cx="4006379" cy="5714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40412" y="2430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Modeling</a:t>
            </a:r>
            <a:endParaRPr lang="en-US" sz="1350"/>
          </a:p>
        </p:txBody>
      </p:sp>
      <p:sp>
        <p:nvSpPr>
          <p:cNvPr id="14" name="Text 8"/>
          <p:cNvSpPr/>
          <p:nvPr/>
        </p:nvSpPr>
        <p:spPr>
          <a:xfrm>
            <a:off x="4840412" y="2737396"/>
            <a:ext cx="38074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classifiers + 8 regressors (ML + Deep Learning)</a:t>
            </a:r>
            <a:endParaRPr lang="en-US" sz="11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228677"/>
            <a:ext cx="4006304" cy="5714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5977" y="324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Evaluation</a:t>
            </a:r>
            <a:endParaRPr lang="en-US" sz="1350"/>
          </a:p>
        </p:txBody>
      </p:sp>
      <p:sp>
        <p:nvSpPr>
          <p:cNvPr id="17" name="Text 10"/>
          <p:cNvSpPr/>
          <p:nvPr/>
        </p:nvSpPr>
        <p:spPr>
          <a:xfrm>
            <a:off x="675977" y="3554239"/>
            <a:ext cx="38073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Cross-bearing validation, SHAP explainability</a:t>
            </a:r>
            <a:endParaRPr lang="en-US" sz="110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503" y="3228677"/>
            <a:ext cx="4006379" cy="5714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40412" y="324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Deployment</a:t>
            </a:r>
            <a:endParaRPr lang="en-US" sz="1350"/>
          </a:p>
        </p:txBody>
      </p:sp>
      <p:sp>
        <p:nvSpPr>
          <p:cNvPr id="20" name="Text 12"/>
          <p:cNvSpPr/>
          <p:nvPr/>
        </p:nvSpPr>
        <p:spPr>
          <a:xfrm>
            <a:off x="4840412" y="3554239"/>
            <a:ext cx="38074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dashboard (green/yellow/red)</a:t>
            </a:r>
            <a:endParaRPr lang="en-US" sz="1100"/>
          </a:p>
        </p:txBody>
      </p:sp>
      <p:sp>
        <p:nvSpPr>
          <p:cNvPr id="21" name="Text 13"/>
          <p:cNvSpPr/>
          <p:nvPr/>
        </p:nvSpPr>
        <p:spPr>
          <a:xfrm>
            <a:off x="496119" y="39405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E977A2-E300-EB0E-D228-1A5A31A82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977"/>
            <a:ext cx="4618509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>
                <a:solidFill>
                  <a:srgbClr val="1B2A4A"/>
                </a:solidFill>
                <a:latin typeface="Raleway"/>
                <a:ea typeface="Raleway" pitchFamily="34" charset="-122"/>
                <a:cs typeface="Raleway" pitchFamily="34" charset="-120"/>
              </a:rPr>
              <a:t>SIGNAL PROCESSING &amp; FEATURES</a:t>
            </a:r>
            <a:endParaRPr lang="en-US" sz="20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110407"/>
            <a:ext cx="8151763" cy="952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1323975"/>
            <a:ext cx="23710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2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Noise Filtering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496119" y="1735410"/>
            <a:ext cx="8151763" cy="84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5th-order Butterworth bandpass filter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Hz - 10,000 Hz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Zero-phase (filtfilt) to avoid distortion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96119" y="2747739"/>
            <a:ext cx="5075486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2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 (34 features via lambda functions)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96119" y="327399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2D5F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TIME-DOMAIN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496119" y="3588097"/>
            <a:ext cx="3920282" cy="662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RMS, Kurtosis, Skewness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Peak-to-Peak, Crest Factor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Shape Factor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732362" y="3273996"/>
            <a:ext cx="211968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FREQUENCY-DOMAIN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4732362" y="3588097"/>
            <a:ext cx="3920282" cy="662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Frequency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Spectral Energy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Spectral Entropy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96119" y="4419600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BCEDB6-A947-6D8F-CB7C-96BBE9D97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58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2042220" y="571351"/>
            <a:ext cx="48308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CLASSIFICATION: 3-CLASS MODEL</a:t>
            </a:r>
            <a:endParaRPr lang="en-US" sz="2200" b="1">
              <a:latin typeface="Raleway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265858"/>
            <a:ext cx="248632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Non-critical</a:t>
            </a:r>
            <a:endParaRPr lang="en-US" sz="110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70% life used</a:t>
            </a:r>
            <a:endParaRPr lang="en-US" sz="11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5,276 samples (70%)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3333080" y="1265858"/>
            <a:ext cx="248632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>
                <a:solidFill>
                  <a:srgbClr val="F39C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 Detectable</a:t>
            </a:r>
            <a:endParaRPr lang="en-US" sz="110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70-90% life used</a:t>
            </a:r>
            <a:endParaRPr lang="en-US" sz="11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1,507 samples (20%)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170042" y="1265858"/>
            <a:ext cx="248632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Imminent Failure</a:t>
            </a:r>
            <a:endParaRPr lang="en-US" sz="110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 90% life used</a:t>
            </a:r>
            <a:endParaRPr lang="en-US" sz="11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751 samples (10%)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96119" y="248840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70/90 boundaries? Degradation onset analysis showed most bearings stay stable until ~95% life.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6119" y="2927821"/>
            <a:ext cx="25836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Train/Test Split</a:t>
            </a:r>
            <a:endParaRPr lang="en-US" sz="1650"/>
          </a:p>
        </p:txBody>
      </p:sp>
      <p:sp>
        <p:nvSpPr>
          <p:cNvPr id="9" name="Text 7"/>
          <p:cNvSpPr/>
          <p:nvPr/>
        </p:nvSpPr>
        <p:spPr>
          <a:xfrm>
            <a:off x="496119" y="3406229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by BEARING (not random) to avoid data leakage.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bearings for training, 2 for testing.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must generalize to unseen bearings.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96119" y="434526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2E782B-9692-8972-F7C0-8CFB3331C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845"/>
            <a:ext cx="71525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HEALTH INDEX &amp; ANOMALY DETECTION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30350"/>
            <a:ext cx="8608963" cy="2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0350"/>
            <a:ext cx="8151763" cy="245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55555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Z-score anomaly detection (threshold = 2.0) for degradation onset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degradation patterns found:</a:t>
            </a:r>
            <a:endParaRPr lang="en-US" sz="1100"/>
          </a:p>
        </p:txBody>
      </p:sp>
      <p:sp>
        <p:nvSpPr>
          <p:cNvPr id="6" name="Shape 3"/>
          <p:cNvSpPr/>
          <p:nvPr/>
        </p:nvSpPr>
        <p:spPr>
          <a:xfrm>
            <a:off x="496119" y="2487588"/>
            <a:ext cx="3902943" cy="1319957"/>
          </a:xfrm>
          <a:prstGeom prst="roundRect">
            <a:avLst>
              <a:gd name="adj" fmla="val 4511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2681139"/>
            <a:ext cx="221456" cy="177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1092" y="2664768"/>
            <a:ext cx="24647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F39C1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Gradual Onset (~55% life)</a:t>
            </a:r>
            <a:endParaRPr lang="en-US" sz="1350"/>
          </a:p>
        </p:txBody>
      </p:sp>
      <p:sp>
        <p:nvSpPr>
          <p:cNvPr id="9" name="Text 5"/>
          <p:cNvSpPr/>
          <p:nvPr/>
        </p:nvSpPr>
        <p:spPr>
          <a:xfrm>
            <a:off x="1001092" y="3027983"/>
            <a:ext cx="3256211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Bearing1_1, Bearing2_2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Slow, steady vibration increase</a:t>
            </a:r>
            <a:endParaRPr lang="en-US" sz="1100"/>
          </a:p>
        </p:txBody>
      </p:sp>
      <p:sp>
        <p:nvSpPr>
          <p:cNvPr id="10" name="Shape 6"/>
          <p:cNvSpPr/>
          <p:nvPr/>
        </p:nvSpPr>
        <p:spPr>
          <a:xfrm>
            <a:off x="4749701" y="2487588"/>
            <a:ext cx="3902943" cy="1319957"/>
          </a:xfrm>
          <a:prstGeom prst="roundRect">
            <a:avLst>
              <a:gd name="adj" fmla="val 4511"/>
            </a:avLst>
          </a:prstGeom>
          <a:solidFill>
            <a:srgbClr val="FFB3B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60" y="2681139"/>
            <a:ext cx="221456" cy="177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4675" y="2664768"/>
            <a:ext cx="2606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74C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Sudden Failure (~95%+ life)</a:t>
            </a:r>
            <a:endParaRPr lang="en-US" sz="1350"/>
          </a:p>
        </p:txBody>
      </p:sp>
      <p:sp>
        <p:nvSpPr>
          <p:cNvPr id="13" name="Text 8"/>
          <p:cNvSpPr/>
          <p:nvPr/>
        </p:nvSpPr>
        <p:spPr>
          <a:xfrm>
            <a:off x="5254675" y="3027983"/>
            <a:ext cx="3256211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Bearing1_2, Bearing2_1, 3_1, 3_2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until abrupt spike at end</a:t>
            </a:r>
            <a:endParaRPr lang="en-US" sz="1100"/>
          </a:p>
        </p:txBody>
      </p:sp>
      <p:sp>
        <p:nvSpPr>
          <p:cNvPr id="14" name="Text 9"/>
          <p:cNvSpPr/>
          <p:nvPr/>
        </p:nvSpPr>
        <p:spPr>
          <a:xfrm>
            <a:off x="496119" y="4126483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robust system must handle both patterns.</a:t>
            </a:r>
            <a:endParaRPr lang="en-US" sz="11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593D01-16EE-34A0-9D1E-1ADD8A824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479"/>
            <a:ext cx="4378896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CLASSIFICATION MODELS</a:t>
            </a:r>
            <a:endParaRPr lang="en-US" sz="25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43831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models compared — 3 classical ML + 3 deep learning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496119" y="1566937"/>
            <a:ext cx="8151763" cy="2637979"/>
          </a:xfrm>
          <a:prstGeom prst="roundRect">
            <a:avLst>
              <a:gd name="adj" fmla="val 203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571699"/>
            <a:ext cx="6920880" cy="3411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66652" y="1645295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399234" y="1645295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trees, balanced class weights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6513612" y="1645295"/>
            <a:ext cx="123780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ML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00881" y="1912813"/>
            <a:ext cx="6920880" cy="3411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66652" y="1986409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3399234" y="1986409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estimators, lr=0.1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513612" y="1986409"/>
            <a:ext cx="123780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ML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500881" y="2253928"/>
            <a:ext cx="6920880" cy="3411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66652" y="2327523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399234" y="2327523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estimators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513612" y="2327523"/>
            <a:ext cx="123780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ML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00881" y="2595042"/>
            <a:ext cx="6920880" cy="5350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66652" y="2668637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BiLSTM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399234" y="2668637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 units/direction, dropout 0.3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513612" y="2668637"/>
            <a:ext cx="78060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00881" y="3130079"/>
            <a:ext cx="6920880" cy="5350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66652" y="3203674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Attention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399234" y="3203674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Conv1D + multi-head self-attention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6513612" y="3203674"/>
            <a:ext cx="78060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00881" y="3665116"/>
            <a:ext cx="6920880" cy="5350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666652" y="3738711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LSTM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3399234" y="3738711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Conv1D feature extraction + LSTM temporal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513612" y="3738711"/>
            <a:ext cx="78060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96119" y="4334098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80565AB-1CA6-D902-C2BF-52F388B55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8036"/>
            <a:ext cx="4652590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CLASSIFICATION RESULTS</a:t>
            </a:r>
            <a:endParaRPr lang="en-US" sz="26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234753"/>
            <a:ext cx="4759598" cy="2620789"/>
          </a:xfrm>
          <a:prstGeom prst="roundRect">
            <a:avLst>
              <a:gd name="adj" fmla="val 21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239515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6017" y="1320998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2221409" y="1320998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804419" y="1320998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Macro F1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00881" y="1612553"/>
            <a:ext cx="4749552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6017" y="1694036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2221409" y="1694036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69.8%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804419" y="1694036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0.529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00881" y="1985590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6017" y="2067074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BiLSTM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2221409" y="2067074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68.3%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804419" y="2067074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0.453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500881" y="2358628"/>
            <a:ext cx="4749552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6017" y="2440112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2221409" y="2440112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66.5%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804419" y="2440112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0.537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00881" y="2731666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6017" y="2813149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2221409" y="2813149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65.4%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3804419" y="2813149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0.533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00881" y="3104704"/>
            <a:ext cx="4749552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6017" y="3186187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Attention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2221409" y="3186187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59.4%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804419" y="3186187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0.387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00881" y="3477741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6017" y="3559225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LSTM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2221409" y="3559225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52.5%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3804419" y="3559225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0.462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589091" y="1205954"/>
            <a:ext cx="3063478" cy="107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RF: best accuracy (69.8%)</a:t>
            </a:r>
            <a:endParaRPr lang="en-US" sz="1050"/>
          </a:p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b="1" err="1">
                <a:solidFill>
                  <a:srgbClr val="3C3939"/>
                </a:solidFill>
                <a:latin typeface="Roboto"/>
                <a:ea typeface="Roboto"/>
                <a:cs typeface="Roboto"/>
              </a:rPr>
              <a:t>XGBoost</a:t>
            </a:r>
            <a:r>
              <a:rPr lang="en-US" sz="1050" b="1">
                <a:solidFill>
                  <a:srgbClr val="3C3939"/>
                </a:solidFill>
                <a:latin typeface="Roboto"/>
                <a:ea typeface="Roboto"/>
                <a:cs typeface="Roboto"/>
              </a:rPr>
              <a:t>: best F1 (0.537) — most balanced</a:t>
            </a:r>
            <a:endParaRPr lang="en-US" sz="1050">
              <a:latin typeface="Roboto"/>
              <a:ea typeface="Roboto"/>
              <a:cs typeface="Roboto"/>
            </a:endParaRPr>
          </a:p>
          <a:p>
            <a:pPr>
              <a:lnSpc>
                <a:spcPct val="130000"/>
              </a:lnSpc>
            </a:pP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</a:rPr>
              <a:t>Deep learning under performs: small dataset (4 training bearings)</a:t>
            </a:r>
            <a:endParaRPr lang="en-US" sz="1050">
              <a:latin typeface="Roboto"/>
              <a:ea typeface="Roboto"/>
              <a:cs typeface="Roboto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6119" y="4143375"/>
            <a:ext cx="86089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models struggle with Wear Detectable class — transitional features overlap with both healthy and failing states.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96119" y="4497363"/>
            <a:ext cx="8608963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8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65E5E4-10C0-FB5F-B31B-653341EB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BC4C-9D83-7636-642F-FA8E7D49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group of graphs with red and blue dots&#10;&#10;AI-generated content may be incorrect.">
            <a:extLst>
              <a:ext uri="{FF2B5EF4-FFF2-40B4-BE49-F238E27FC236}">
                <a16:creationId xmlns:a16="http://schemas.microsoft.com/office/drawing/2014/main" id="{F36AF47E-C5B2-01D2-B162-15096E87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"/>
          <a:stretch>
            <a:fillRect/>
          </a:stretch>
        </p:blipFill>
        <p:spPr>
          <a:xfrm>
            <a:off x="476250" y="533400"/>
            <a:ext cx="8184258" cy="4076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572C8C-DE76-23C9-AA77-1B125DAB4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4182" y="4807990"/>
            <a:ext cx="2219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2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972"/>
            <a:ext cx="37015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REGRESSION RESULTS</a:t>
            </a:r>
            <a:endParaRPr lang="en-US" sz="23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109290"/>
            <a:ext cx="3928914" cy="3161556"/>
          </a:xfrm>
          <a:prstGeom prst="roundRect">
            <a:avLst>
              <a:gd name="adj" fmla="val 160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14053"/>
            <a:ext cx="3919389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1506" y="1180207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1603697" y="1180207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583507" y="1180207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563317" y="1180207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0881" y="1424657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506" y="1490811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LSTM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603697" y="1490811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211.0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583507" y="1490811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160.0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563317" y="1490811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0.241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00881" y="1735262"/>
            <a:ext cx="3919389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506" y="1801416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603697" y="1801416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254.1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2583507" y="1801416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188.6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563317" y="1801416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-0.101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00881" y="2045866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1506" y="2112020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BiLSTM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603697" y="2112020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301.1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583507" y="2112020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241.7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563317" y="2112020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-0.545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00881" y="2356470"/>
            <a:ext cx="3919389" cy="488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506" y="2422624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603697" y="242262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383.0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2583507" y="242262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275.0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563317" y="2422624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-1.501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500881" y="2845371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506" y="2911525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603697" y="2911525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394.3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2583507" y="2911525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299.9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3317" y="2911525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-1.651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500881" y="3155975"/>
            <a:ext cx="3919389" cy="488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1506" y="3222129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1603697" y="32221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441.2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2583507" y="32221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334.1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563317" y="3222129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-2.319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500881" y="3644875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1506" y="3711029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SVR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1603697" y="37110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546.1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2583507" y="37110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403.7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3563317" y="3711029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-4.085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500881" y="3955479"/>
            <a:ext cx="3919389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1506" y="4021634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SVR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1603697" y="402163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930.0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2583507" y="402163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760.0</a:t>
            </a:r>
            <a:endParaRPr lang="en-US" sz="900"/>
          </a:p>
        </p:txBody>
      </p:sp>
      <p:sp>
        <p:nvSpPr>
          <p:cNvPr id="48" name="Text 46"/>
          <p:cNvSpPr/>
          <p:nvPr/>
        </p:nvSpPr>
        <p:spPr>
          <a:xfrm>
            <a:off x="3563317" y="4021634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-13.747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4723730" y="1086222"/>
            <a:ext cx="3928914" cy="1254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CNN+LSTM is the only model with positive R²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 = 211 recordings</a:t>
            </a:r>
            <a:endParaRPr lang="en-US" sz="900"/>
          </a:p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~35 minutes error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R² is expected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cross-bearing evaluation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(documented in PHM 2012)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96119" y="4501232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90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E42447E-0C1A-94AF-C770-9727AB72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6ED742C-DA2A-27AB-95FC-7013AAF6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"/>
          <a:stretch>
            <a:fillRect/>
          </a:stretch>
        </p:blipFill>
        <p:spPr>
          <a:xfrm>
            <a:off x="726647" y="635902"/>
            <a:ext cx="7525198" cy="3763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F33A66-8C5A-CA2D-EC3F-C3EBA1D79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82" y="4807990"/>
            <a:ext cx="2219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87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4081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WHY CNN+LSTM WORKS BEST</a:t>
            </a:r>
            <a:endParaRPr lang="en-US" sz="19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769293"/>
            <a:ext cx="19457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496119" y="1059507"/>
            <a:ext cx="4041130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0075" y="116346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Conv1D (64)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600075" y="1360140"/>
            <a:ext cx="38332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local feature patterns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4606677" y="1059507"/>
            <a:ext cx="4041204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0633" y="116346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Conv1D (128)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4710633" y="1360140"/>
            <a:ext cx="38332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complex interactions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496119" y="1668512"/>
            <a:ext cx="4041130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075" y="1772469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MaxPool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600075" y="1969145"/>
            <a:ext cx="38332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 representation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606677" y="1668512"/>
            <a:ext cx="4041204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0633" y="1772469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LSTM (64)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710633" y="1969145"/>
            <a:ext cx="38332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temporal degradation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496119" y="2277517"/>
            <a:ext cx="4041130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075" y="2381473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LSTM (32)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600075" y="2578150"/>
            <a:ext cx="38332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temporal patterns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4606677" y="2277517"/>
            <a:ext cx="4041204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0633" y="2381473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Dense (1)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710633" y="2578150"/>
            <a:ext cx="38332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RUL value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496119" y="2921273"/>
            <a:ext cx="360938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wins regression but loses classification: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496119" y="3289622"/>
            <a:ext cx="3954884" cy="1158180"/>
          </a:xfrm>
          <a:prstGeom prst="roundRect">
            <a:avLst>
              <a:gd name="adj" fmla="val 3599"/>
            </a:avLst>
          </a:prstGeom>
          <a:solidFill>
            <a:srgbClr val="B6FCB8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3394397"/>
            <a:ext cx="155004" cy="12397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9511" y="3383831"/>
            <a:ext cx="16976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(wins)</a:t>
            </a:r>
            <a:endParaRPr lang="en-US" sz="950"/>
          </a:p>
        </p:txBody>
      </p:sp>
      <p:sp>
        <p:nvSpPr>
          <p:cNvPr id="26" name="Text 23"/>
          <p:cNvSpPr/>
          <p:nvPr/>
        </p:nvSpPr>
        <p:spPr>
          <a:xfrm>
            <a:off x="849511" y="3608263"/>
            <a:ext cx="3502298" cy="72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Needs temporal sequence modeling.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spots which features spike together.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tracks how those spikes evolve.</a:t>
            </a:r>
            <a:endParaRPr lang="en-US" sz="75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= 0.241 (only positive!)</a:t>
            </a:r>
            <a:endParaRPr lang="en-US" sz="750"/>
          </a:p>
        </p:txBody>
      </p:sp>
      <p:sp>
        <p:nvSpPr>
          <p:cNvPr id="27" name="Shape 24"/>
          <p:cNvSpPr/>
          <p:nvPr/>
        </p:nvSpPr>
        <p:spPr>
          <a:xfrm>
            <a:off x="4697760" y="3289622"/>
            <a:ext cx="3954884" cy="1158180"/>
          </a:xfrm>
          <a:prstGeom prst="roundRect">
            <a:avLst>
              <a:gd name="adj" fmla="val 3599"/>
            </a:avLst>
          </a:prstGeom>
          <a:solidFill>
            <a:srgbClr val="FFB3B4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54" y="3394397"/>
            <a:ext cx="155004" cy="12397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51152" y="3383831"/>
            <a:ext cx="16976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(loses)</a:t>
            </a:r>
            <a:endParaRPr lang="en-US" sz="950"/>
          </a:p>
        </p:txBody>
      </p:sp>
      <p:sp>
        <p:nvSpPr>
          <p:cNvPr id="30" name="Text 26"/>
          <p:cNvSpPr/>
          <p:nvPr/>
        </p:nvSpPr>
        <p:spPr>
          <a:xfrm>
            <a:off x="5051152" y="3608263"/>
            <a:ext cx="3502298" cy="72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needs broad category separation.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many parameters for 4 training bearings.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Overfits on small data (52.5% accuracy).</a:t>
            </a:r>
            <a:endParaRPr lang="en-US" sz="75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Simpler trees (RF 69.8%) do better.</a:t>
            </a:r>
            <a:endParaRPr lang="en-US" sz="750"/>
          </a:p>
        </p:txBody>
      </p:sp>
      <p:sp>
        <p:nvSpPr>
          <p:cNvPr id="31" name="Text 27"/>
          <p:cNvSpPr/>
          <p:nvPr/>
        </p:nvSpPr>
        <p:spPr>
          <a:xfrm>
            <a:off x="496119" y="4604072"/>
            <a:ext cx="860896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6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47427E-4E6B-AF02-5506-DABC8C15E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779"/>
            <a:ext cx="536696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EXPLAINABILITY &amp; CONFIDENCE</a:t>
            </a:r>
            <a:endParaRPr lang="en-US" sz="25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81980"/>
            <a:ext cx="8151763" cy="952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1367358"/>
            <a:ext cx="23710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SHAP Analysis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496119" y="1721421"/>
            <a:ext cx="3920282" cy="108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features driving predictions: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RMS vibration amplitude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Spectral energy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with Sutrisno et al. (2012)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732362" y="1367358"/>
            <a:ext cx="23710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Confidence Intervals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732362" y="1721421"/>
            <a:ext cx="3920282" cy="13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quantile regression intervals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Coverage: 73.0%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(below 80% target — slightly overconfident)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width: ~2 hours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(actionable maintenance window)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96119" y="3379663"/>
            <a:ext cx="2680171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Cross-Bearing Evaluation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7437" y="3920282"/>
            <a:ext cx="796044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train on 4 bearings and test on 2 completely unseen bearings. This is harder than testing on the same bearing (which gives R² &gt; 0.9 but is not realistic). Our CNN+LSTM achieves R² = 0.241 — the only model to beat the mean baseline on this honest evaluation.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96119" y="3791099"/>
            <a:ext cx="14288" cy="646212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4566493"/>
            <a:ext cx="8608963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5697A-1F77-F879-5A8B-844FC42B0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080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KEY FINDINGS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522735"/>
            <a:ext cx="8151763" cy="1056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709142"/>
            <a:ext cx="2618184" cy="1257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1728192"/>
            <a:ext cx="241927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2D5F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 best accuracy (69.8%), XGBoost best F1 (0.537). Classical ML beats deep learning on small datasets.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383" y="1709142"/>
            <a:ext cx="2618184" cy="12572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2292" y="1728192"/>
            <a:ext cx="2419276" cy="121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E881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CNN+LSTM best (RMSE=211, R²=0.241). Only positive R² — CNN extracts spatial patterns, LSTM learns temporal evolution.</a:t>
            </a:r>
            <a:endParaRPr lang="en-US" sz="110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697" y="1709142"/>
            <a:ext cx="2618184" cy="12572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28606" y="1728192"/>
            <a:ext cx="241927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1B2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Importance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confirms RMS vibration and spectral energy as top predictors — consistent with published literature.</a:t>
            </a:r>
            <a:endParaRPr lang="en-US" sz="11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211785"/>
            <a:ext cx="4006304" cy="8035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977" y="3230835"/>
            <a:ext cx="3807396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Degradation Modes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patterns: gradual onset (~55%) and sudden failure (~95%+). Any deployed system must handle both.</a:t>
            </a:r>
            <a:endParaRPr lang="en-US" sz="110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503" y="3211785"/>
            <a:ext cx="4006379" cy="80359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40412" y="3230835"/>
            <a:ext cx="3807470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Value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~35 min average prediction error with operations dashboard (green/yellow/red) for production managers.</a:t>
            </a:r>
            <a:endParaRPr lang="en-US" sz="1100"/>
          </a:p>
        </p:txBody>
      </p:sp>
      <p:sp>
        <p:nvSpPr>
          <p:cNvPr id="14" name="Text 7"/>
          <p:cNvSpPr/>
          <p:nvPr/>
        </p:nvSpPr>
        <p:spPr>
          <a:xfrm>
            <a:off x="496119" y="415580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A23F44-D060-6246-9C2D-BA34D5610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CF32DA-FAFC-6CA2-CF95-F8D76D3ED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1" y="365780"/>
            <a:ext cx="8731652" cy="4498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F84DEF-4A73-0A89-8458-7E059902C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82" y="4807990"/>
            <a:ext cx="2219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4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58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2571304" y="1156022"/>
            <a:ext cx="3772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>
                <a:solidFill>
                  <a:srgbClr val="FFFFFF"/>
                </a:solidFill>
                <a:latin typeface="Raleway"/>
                <a:ea typeface="Raleway" pitchFamily="34" charset="-122"/>
                <a:cs typeface="Raleway" pitchFamily="34" charset="-120"/>
              </a:rPr>
              <a:t>THANK YOU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882527"/>
            <a:ext cx="8151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classification models — RF best (69.8%)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regression models — CNN+LSTM best (RMSE=211, R²=0.241)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 features extracted via lambda functions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CRISP-DM methodology applied end-to-end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~35 min average prediction error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96119" y="3374306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Ephraim Neke Kamalu | Pratiksha Satish </a:t>
            </a:r>
            <a:r>
              <a:rPr lang="en-US" sz="1100" err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Ramane</a:t>
            </a: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| Abeera Biju | Geo Shajan</a:t>
            </a:r>
            <a:endParaRPr lang="en-US" sz="1100">
              <a:latin typeface="Roboto"/>
              <a:ea typeface="Roboto"/>
              <a:cs typeface="Roboto"/>
            </a:endParaRPr>
          </a:p>
          <a:p>
            <a:pPr algn="ctr">
              <a:lnSpc>
                <a:spcPct val="133000"/>
              </a:lnSpc>
            </a:pP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Team B5 | Group 1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A74A2A-D0B4-3AE5-7200-37AD93C2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714" y="4758687"/>
            <a:ext cx="1943286" cy="3539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485c82-cf81-4da2-9577-27b858425da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62DAADC1FD3794D8761720A6DD4E29D" ma:contentTypeVersion="5" ma:contentTypeDescription="Ein neues Dokument erstellen." ma:contentTypeScope="" ma:versionID="af0cfed9af42a0f4c5b719d58b093657">
  <xsd:schema xmlns:xsd="http://www.w3.org/2001/XMLSchema" xmlns:xs="http://www.w3.org/2001/XMLSchema" xmlns:p="http://schemas.microsoft.com/office/2006/metadata/properties" xmlns:ns3="46485c82-cf81-4da2-9577-27b858425da3" targetNamespace="http://schemas.microsoft.com/office/2006/metadata/properties" ma:root="true" ma:fieldsID="b0fff9ee0e1c227ad3881fc533324089" ns3:_="">
    <xsd:import namespace="46485c82-cf81-4da2-9577-27b858425d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85c82-cf81-4da2-9577-27b858425d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BD61DC-895E-4D01-84A0-547814BB2455}">
  <ds:schemaRefs>
    <ds:schemaRef ds:uri="46485c82-cf81-4da2-9577-27b858425d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744F29-9C90-4B65-83A9-804172C67F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A1BDF4-4D12-4355-AE69-1DF244F54538}">
  <ds:schemaRefs>
    <ds:schemaRef ds:uri="46485c82-cf81-4da2-9577-27b858425d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On-screen Show (16:9)</PresentationFormat>
  <Slides>18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 shajan</dc:creator>
  <cp:revision>9</cp:revision>
  <dcterms:created xsi:type="dcterms:W3CDTF">2026-06-02T10:10:42Z</dcterms:created>
  <dcterms:modified xsi:type="dcterms:W3CDTF">2026-06-02T13:01:02Z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0x010100C62DAADC1FD3794D8761720A6DD4E29D</vt:lpwstr>
  </property>
</Properties>
</file>